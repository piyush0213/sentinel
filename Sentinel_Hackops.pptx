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Inter SemiBold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3W5071MZhkANYtxFl+DItONht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74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1028700" y="6584151"/>
            <a:ext cx="16230600" cy="3446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Name:  </a:t>
            </a:r>
            <a:r>
              <a:rPr lang="en-US" sz="3999" b="1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Hackops</a:t>
            </a:r>
            <a:endParaRPr dirty="0"/>
          </a:p>
          <a:p>
            <a:pPr lvl="0" algn="just">
              <a:lnSpc>
                <a:spcPct val="140010"/>
              </a:lnSpc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Statement: </a:t>
            </a:r>
            <a:r>
              <a:rPr lang="en-US" sz="3999" b="1" dirty="0">
                <a:latin typeface="Times"/>
                <a:ea typeface="Times"/>
                <a:cs typeface="Times"/>
                <a:sym typeface="Times"/>
              </a:rPr>
              <a:t> AI Behavioral Finance Protection Layer </a:t>
            </a:r>
            <a:endParaRPr dirty="0"/>
          </a:p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Lead: Piyush Prajapati</a:t>
            </a:r>
            <a:endParaRPr dirty="0"/>
          </a:p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Member:  Prachi Bhardwaj</a:t>
            </a:r>
            <a:endParaRPr dirty="0"/>
          </a:p>
        </p:txBody>
      </p:sp>
      <p:grpSp>
        <p:nvGrpSpPr>
          <p:cNvPr id="89" name="Google Shape;89;p1"/>
          <p:cNvGrpSpPr/>
          <p:nvPr/>
        </p:nvGrpSpPr>
        <p:grpSpPr>
          <a:xfrm>
            <a:off x="273353" y="1592759"/>
            <a:ext cx="17490150" cy="4772332"/>
            <a:chOff x="0" y="295275"/>
            <a:chExt cx="23320200" cy="6363109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0" y="295275"/>
              <a:ext cx="23320200" cy="38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5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765" b="1" i="0" u="none" strike="noStrike" cap="none" dirty="0">
                  <a:solidFill>
                    <a:srgbClr val="CA70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FINVASIA INNOVATION HACKATHON 2026</a:t>
              </a:r>
              <a:endParaRPr sz="100" dirty="0"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1287713" y="4576384"/>
              <a:ext cx="20744700" cy="20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39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Leveraging Emerging Trends and Technologies for </a:t>
              </a:r>
              <a:endParaRPr/>
            </a:p>
            <a:p>
              <a:pPr marL="0" marR="0" lvl="0" indent="0" algn="ctr" rtl="0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39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Financial Innovation</a:t>
              </a:r>
              <a:endParaRPr/>
            </a:p>
          </p:txBody>
        </p:sp>
        <p:cxnSp>
          <p:nvCxnSpPr>
            <p:cNvPr id="92" name="Google Shape;92;p1"/>
            <p:cNvCxnSpPr/>
            <p:nvPr/>
          </p:nvCxnSpPr>
          <p:spPr>
            <a:xfrm>
              <a:off x="995079" y="4600681"/>
              <a:ext cx="21037407" cy="0"/>
            </a:xfrm>
            <a:prstGeom prst="straightConnector1">
              <a:avLst/>
            </a:prstGeom>
            <a:noFill/>
            <a:ln w="125125" cap="flat" cmpd="sng">
              <a:solidFill>
                <a:srgbClr val="AD5C4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3" name="Google Shape;93;p1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94" name="Google Shape;94;p1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0" t="-139379" r="-3650" b="-155363"/>
              </a:stretch>
            </a:blipFill>
            <a:ln>
              <a:noFill/>
            </a:ln>
          </p:spPr>
        </p:sp>
        <p:sp>
          <p:nvSpPr>
            <p:cNvPr id="95" name="Google Shape;95;p1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5" name="Google Shape;105;p2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06" name="Google Shape;106;p2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07" name="Google Shape;107;p2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629308" y="1283260"/>
            <a:ext cx="16230600" cy="1163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</a:t>
            </a:r>
          </a:p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5E4771-A6A5-90AE-DBA6-B4B761AD4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4" y="2644139"/>
            <a:ext cx="18116315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Current System Limitations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Existing trading platforms are built only for execution speed, lacking any</a:t>
            </a: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psychological safeguards to prevent impulsive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User Pain Points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 :.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b="1" dirty="0">
              <a:solidFill>
                <a:schemeClr val="tx1"/>
              </a:solidFill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Technical or Operational Challenges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Traditional brokers execute harmful orders with "Zero Friction," making it</a:t>
            </a: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too easy for emotionally compromised traders to wipe out their accounts.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Why This Problem Matters Now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E1BF48-24D8-57EC-FE66-4A3B08BF1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350" y="3938521"/>
            <a:ext cx="653095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90% of retail traders lose money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Not due to lack of knowledge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But due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emotions like FOMO &amp; panic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Trading platforms do not prevent this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solidFill>
                <a:schemeClr val="tx1"/>
              </a:solidFill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CB34C81-594A-C71D-87FA-80B8538DA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143" y="7685428"/>
            <a:ext cx="701987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Rising participation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F&amp;O trading in India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Increased risk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retail investor losses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Losses reduce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user trust &amp; retention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Affects long-term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platform growth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15" name="Google Shape;115;p3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6" name="Google Shape;116;p3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8" name="Google Shape;118;p3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19" name="Google Shape;119;p3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20" name="Google Shape;120;p3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1" name="Google Shape;121;p3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3"/>
          <p:cNvSpPr txBox="1"/>
          <p:nvPr/>
        </p:nvSpPr>
        <p:spPr>
          <a:xfrm>
            <a:off x="853242" y="850641"/>
            <a:ext cx="16230600" cy="1163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Proposed Solution </a:t>
            </a:r>
            <a:endParaRPr dirty="0"/>
          </a:p>
          <a:p>
            <a:pPr marL="323849" algn="just">
              <a:lnSpc>
                <a:spcPct val="140013"/>
              </a:lnSpc>
              <a:buSzPts val="2999"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3C2D6C-1733-0714-F6C3-B32651858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017" y="1794538"/>
            <a:ext cx="17615983" cy="797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Core Idea / Concept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AI "Psychological Wrapper" for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Shoonya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to stop emotional trading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Key Features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chemeClr val="tx1"/>
              </a:solidFill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How it Addresses the Challenges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Injects "Healthy Friction" by forcing pauses and reflection before risky trades.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USP </a:t>
            </a:r>
            <a:r>
              <a:rPr lang="en-US" altLang="en-US" sz="3200" b="1" dirty="0">
                <a:solidFill>
                  <a:schemeClr val="tx1"/>
                </a:solidFill>
                <a:latin typeface="Times"/>
                <a:cs typeface="Times"/>
              </a:rPr>
              <a:t>: </a:t>
            </a:r>
            <a:r>
              <a:rPr lang="en-US" sz="2800" b="1" dirty="0"/>
              <a:t>“DON’T BLOCK TRADES — GIVE TRADERS A MIRROR”</a:t>
            </a:r>
            <a:r>
              <a:rPr lang="en-US" sz="2800" dirty="0"/>
              <a:t> </a:t>
            </a:r>
          </a:p>
          <a:p>
            <a:r>
              <a:rPr lang="en-US" sz="3200" dirty="0"/>
              <a:t>            Real-time psychological feedback </a:t>
            </a:r>
          </a:p>
          <a:p>
            <a:r>
              <a:rPr lang="en-US" sz="3200" dirty="0"/>
              <a:t>            Helps users rethink decisions </a:t>
            </a:r>
          </a:p>
          <a:p>
            <a:r>
              <a:rPr lang="en-US" sz="3200" dirty="0"/>
              <a:t>            Maintains freedom + adds safety </a:t>
            </a:r>
          </a:p>
          <a:p>
            <a:endParaRPr lang="en-US" altLang="en-US" sz="3200" b="1" dirty="0">
              <a:solidFill>
                <a:schemeClr val="tx1"/>
              </a:solidFill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Why this Solution is Better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It focuses on trader survival and long-term retention rather than just execution speed.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B394FC-BE6C-C4C5-C976-60F5BB225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022" y="2377268"/>
            <a:ext cx="633378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AI detects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7 emotional trading patterns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Real-time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risk scoring 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Cooldown circuit breakers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NLP-based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misinformation detection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-1562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28" name="Google Shape;128;p4"/>
          <p:cNvSpPr/>
          <p:nvPr/>
        </p:nvSpPr>
        <p:spPr>
          <a:xfrm>
            <a:off x="16564396" y="-16250"/>
            <a:ext cx="1511264" cy="465827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307860" y="1"/>
            <a:ext cx="1486434" cy="465826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>
            <a:off x="15113478" y="-16250"/>
            <a:ext cx="1238578" cy="465826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1" name="Google Shape;131;p4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32" name="Google Shape;132;p4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33" name="Google Shape;133;p4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30CBBB9-9937-E458-B60A-657F908C34C2}"/>
              </a:ext>
            </a:extLst>
          </p:cNvPr>
          <p:cNvSpPr txBox="1"/>
          <p:nvPr/>
        </p:nvSpPr>
        <p:spPr>
          <a:xfrm>
            <a:off x="4572000" y="4448846"/>
            <a:ext cx="1811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Feature 1 (</a:t>
            </a:r>
            <a:endParaRPr lang="en-US" b="0" i="0" dirty="0">
              <a:solidFill>
                <a:srgbClr val="CCCCCC"/>
              </a:solidFill>
              <a:effectLst/>
              <a:latin typeface="ui-sans-serif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FE21C-3848-3729-F57D-51C9BF1AE8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4188" y="727277"/>
            <a:ext cx="16350952" cy="8832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44" name="Google Shape;144;p5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45" name="Google Shape;145;p5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6" name="Google Shape;146;p5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5"/>
          <p:cNvSpPr txBox="1"/>
          <p:nvPr/>
        </p:nvSpPr>
        <p:spPr>
          <a:xfrm>
            <a:off x="442392" y="1030690"/>
            <a:ext cx="16230600" cy="510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Key Features + Tech Stack</a:t>
            </a:r>
            <a:endParaRPr sz="3200" dirty="0">
              <a:latin typeface="Times"/>
              <a:cs typeface="Times"/>
            </a:endParaRPr>
          </a:p>
          <a:p>
            <a:r>
              <a:rPr lang="en-US" sz="3200" b="1" dirty="0">
                <a:latin typeface="Times"/>
                <a:cs typeface="Times"/>
              </a:rPr>
              <a:t>Feature 1 (AI-based):</a:t>
            </a:r>
            <a:r>
              <a:rPr lang="en-US" sz="3200" dirty="0">
                <a:latin typeface="Times"/>
                <a:cs typeface="Times"/>
              </a:rPr>
              <a:t> Behavioral ML Model trained to detect 7 emotional trading patterns (revenge trading, FOMO, panic selling).</a:t>
            </a:r>
          </a:p>
          <a:p>
            <a:r>
              <a:rPr lang="en-US" sz="3200" b="1" dirty="0">
                <a:latin typeface="Times"/>
                <a:cs typeface="Times"/>
              </a:rPr>
              <a:t>Feature 2 (automation / prediction):</a:t>
            </a:r>
            <a:r>
              <a:rPr lang="en-US" sz="3200" dirty="0">
                <a:latin typeface="Times"/>
                <a:cs typeface="Times"/>
              </a:rPr>
              <a:t> Real-time Psychological Circuit Breakers and Live Risk Scoring that automatically intercept dangerous trades.</a:t>
            </a:r>
          </a:p>
          <a:p>
            <a:r>
              <a:rPr lang="en-US" sz="3200" b="1" dirty="0">
                <a:latin typeface="Times"/>
                <a:cs typeface="Times"/>
              </a:rPr>
              <a:t>Feature 3 (user benefit):</a:t>
            </a:r>
            <a:r>
              <a:rPr lang="en-US" sz="3200" dirty="0">
                <a:latin typeface="Times"/>
                <a:cs typeface="Times"/>
              </a:rPr>
              <a:t> Protects retail traders from massive capital destruction during emotional tilts without permanently blocking their access to the market</a:t>
            </a:r>
            <a:r>
              <a:rPr lang="en-US" dirty="0"/>
              <a:t>.</a:t>
            </a:r>
          </a:p>
          <a:p>
            <a:endParaRPr lang="en-US" sz="3200" b="1" i="0" u="none" strike="noStrike" cap="none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r>
              <a:rPr lang="en-US" sz="32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 stack:</a:t>
            </a:r>
            <a:endParaRPr sz="3200" b="1" dirty="0"/>
          </a:p>
          <a:p>
            <a:pPr marL="1295394" marR="0" lvl="2" indent="-431797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⚬"/>
            </a:pP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D6FD29-0A83-A3EB-2B71-05223EA8C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59480"/>
              </p:ext>
            </p:extLst>
          </p:nvPr>
        </p:nvGraphicFramePr>
        <p:xfrm>
          <a:off x="3511370" y="5904042"/>
          <a:ext cx="10389423" cy="3393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298">
                  <a:extLst>
                    <a:ext uri="{9D8B030D-6E8A-4147-A177-3AD203B41FA5}">
                      <a16:colId xmlns:a16="http://schemas.microsoft.com/office/drawing/2014/main" val="3086541324"/>
                    </a:ext>
                  </a:extLst>
                </a:gridCol>
                <a:gridCol w="7380125">
                  <a:extLst>
                    <a:ext uri="{9D8B030D-6E8A-4147-A177-3AD203B41FA5}">
                      <a16:colId xmlns:a16="http://schemas.microsoft.com/office/drawing/2014/main" val="1290455076"/>
                    </a:ext>
                  </a:extLst>
                </a:gridCol>
              </a:tblGrid>
              <a:tr h="3491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089514"/>
                  </a:ext>
                </a:extLst>
              </a:tr>
              <a:tr h="816726">
                <a:tc>
                  <a:txBody>
                    <a:bodyPr/>
                    <a:lstStyle/>
                    <a:p>
                      <a:r>
                        <a:rPr lang="en-US" sz="2800" dirty="0"/>
                        <a:t>        AI/ML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Scikit-Learn, Pandas, NumPy, OpenAI API (gpt-4o-mini)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654973"/>
                  </a:ext>
                </a:extLst>
              </a:tr>
              <a:tr h="611237">
                <a:tc>
                  <a:txBody>
                    <a:bodyPr/>
                    <a:lstStyle/>
                    <a:p>
                      <a:r>
                        <a:rPr lang="en-US" dirty="0"/>
                        <a:t>               </a:t>
                      </a:r>
                      <a:r>
                        <a:rPr lang="en-US" sz="2800" dirty="0"/>
                        <a:t>Backend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Python 3.11, </a:t>
                      </a:r>
                      <a:r>
                        <a:rPr lang="en-IN" sz="20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FastAPI</a:t>
                      </a:r>
                      <a:r>
                        <a:rPr lang="en-IN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en-IN" sz="20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Uvicorn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287582"/>
                  </a:ext>
                </a:extLst>
              </a:tr>
              <a:tr h="813099">
                <a:tc>
                  <a:txBody>
                    <a:bodyPr/>
                    <a:lstStyle/>
                    <a:p>
                      <a:r>
                        <a:rPr lang="en-US" sz="2800" dirty="0"/>
                        <a:t>       Frontend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React</a:t>
                      </a:r>
                      <a:r>
                        <a:rPr lang="fr-FR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18, Vite, </a:t>
                      </a:r>
                      <a:r>
                        <a:rPr lang="fr-FR" sz="20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TailwindCSS</a:t>
                      </a:r>
                      <a:r>
                        <a:rPr lang="fr-FR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428419"/>
                  </a:ext>
                </a:extLst>
              </a:tr>
              <a:tr h="802958">
                <a:tc>
                  <a:txBody>
                    <a:bodyPr/>
                    <a:lstStyle/>
                    <a:p>
                      <a:r>
                        <a:rPr lang="en-US" sz="2800" dirty="0"/>
                        <a:t>         API’S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Shoonya</a:t>
                      </a: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Brokerage Data API, REST APIs for Frontend-to-Backend communication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9497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1110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4" name="Google Shape;154;p6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6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6" name="Google Shape;156;p6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57" name="Google Shape;157;p6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58" name="Google Shape;158;p6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9" name="Google Shape;159;p6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" name="Google Shape;160;p6"/>
          <p:cNvSpPr txBox="1"/>
          <p:nvPr/>
        </p:nvSpPr>
        <p:spPr>
          <a:xfrm>
            <a:off x="723776" y="943897"/>
            <a:ext cx="16230600" cy="1163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Impact &amp; Benefits</a:t>
            </a:r>
            <a:endParaRPr dirty="0"/>
          </a:p>
          <a:p>
            <a:pPr marL="647697" marR="0" lvl="1" indent="-323848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743AC-E401-756A-C7DD-A8F48C97B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02" y="1666473"/>
            <a:ext cx="17763502" cy="7755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Impact on Users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Extends trader "lifespan" by reducing capital destruction caused by emotional and </a:t>
            </a: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behavioral biases.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Benefits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Speed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Delivers sub-second real-time behavioral analysis using a high-concurrency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FastAPI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gateway.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Accuracy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Utilizes a Random Forest Classifier to identify specific patterns like Revenge Trading with high 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Cost Reduction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Eliminates financial losses from overtrading and impulsive orders, preserving retail  capital for better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oppertunities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                  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Real-world Application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Acts as a native "safety layer" via a Chrome Extension that works directly on  live brokerage platforms like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Shoonya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66" name="Google Shape;166;p7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7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7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9" name="Google Shape;169;p7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70" name="Google Shape;170;p7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71" name="Google Shape;171;p7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2" name="Google Shape;172;p7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7"/>
          <p:cNvSpPr txBox="1"/>
          <p:nvPr/>
        </p:nvSpPr>
        <p:spPr>
          <a:xfrm>
            <a:off x="413225" y="1231947"/>
            <a:ext cx="16230600" cy="1163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Challenges + Feasibility</a:t>
            </a:r>
            <a:endParaRPr dirty="0"/>
          </a:p>
          <a:p>
            <a:pPr marL="647697" marR="0" lvl="1" indent="-323848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52F839-7DC9-5EE3-1C30-59FDCC3A5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68" y="2740087"/>
            <a:ext cx="18014647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Challenge 1 → Solution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Real-time analysis latency is solved by using a high-performance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FastAPI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backend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Service Worker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for sub-second trade interception.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Challenge 2 → Fix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User resistance to trade blocking is fixed by our "Mirror" philosophy—using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CoolDown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Cards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to force reflection rather than outright blocking.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Technical Feasibility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Built using industry-standard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Python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React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stacks, making it easy to integrate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with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Shoonya’s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existing API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/>
              <a:cs typeface="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Scalability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: The microservices-based architecture and lightweight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Chrome Extension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 allow SENTINEL to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1"/>
                </a:solidFill>
                <a:latin typeface="Times"/>
                <a:cs typeface="Times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cs typeface="Times"/>
              </a:rPr>
              <a:t>scale across millions of retail users with minimal overhead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79" name="Google Shape;179;p8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0" name="Google Shape;180;p8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1" name="Google Shape;181;p8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82" name="Google Shape;182;p8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83" name="Google Shape;183;p8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84" name="Google Shape;184;p8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5" name="Google Shape;185;p8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8"/>
          <p:cNvSpPr txBox="1"/>
          <p:nvPr/>
        </p:nvSpPr>
        <p:spPr>
          <a:xfrm>
            <a:off x="672018" y="1512552"/>
            <a:ext cx="16230600" cy="694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Future Scope</a:t>
            </a:r>
          </a:p>
          <a:p>
            <a:endParaRPr lang="en-US" sz="3999" b="1" dirty="0">
              <a:latin typeface="Times"/>
              <a:cs typeface="Times"/>
              <a:sym typeface="Times"/>
            </a:endParaRPr>
          </a:p>
          <a:p>
            <a:r>
              <a:rPr lang="en-US" sz="3200" b="1" dirty="0">
                <a:latin typeface="Times"/>
                <a:cs typeface="Times"/>
              </a:rPr>
              <a:t>Future improvement</a:t>
            </a:r>
            <a:r>
              <a:rPr lang="en-US" sz="3200" dirty="0">
                <a:latin typeface="Times"/>
                <a:cs typeface="Times"/>
              </a:rPr>
              <a:t> Developing deep-learning models to adapt to individual trader personalities for hyper-personalized behavioral coaching.</a:t>
            </a:r>
          </a:p>
          <a:p>
            <a:endParaRPr lang="en-US" sz="3200" dirty="0">
              <a:latin typeface="Times"/>
              <a:cs typeface="Times"/>
            </a:endParaRPr>
          </a:p>
          <a:p>
            <a:r>
              <a:rPr lang="en-US" sz="3200" b="1" dirty="0">
                <a:latin typeface="Times"/>
                <a:cs typeface="Times"/>
              </a:rPr>
              <a:t>Scaling plan</a:t>
            </a:r>
            <a:r>
              <a:rPr lang="en-US" sz="3200" dirty="0">
                <a:latin typeface="Times"/>
                <a:cs typeface="Times"/>
              </a:rPr>
              <a:t>: Moving from a browser extension to a native mobile integration for the </a:t>
            </a:r>
            <a:r>
              <a:rPr lang="en-US" sz="3200" b="1" dirty="0" err="1">
                <a:latin typeface="Times"/>
                <a:cs typeface="Times"/>
              </a:rPr>
              <a:t>Shoonya</a:t>
            </a:r>
            <a:r>
              <a:rPr lang="en-US" sz="3200" b="1" dirty="0">
                <a:latin typeface="Times"/>
                <a:cs typeface="Times"/>
              </a:rPr>
              <a:t> app</a:t>
            </a:r>
            <a:r>
              <a:rPr lang="en-US" sz="3200" dirty="0">
                <a:latin typeface="Times"/>
                <a:cs typeface="Times"/>
              </a:rPr>
              <a:t>, ensuring protection across all devices.</a:t>
            </a:r>
          </a:p>
          <a:p>
            <a:endParaRPr lang="en-US" sz="3200" dirty="0">
              <a:latin typeface="Times"/>
              <a:cs typeface="Times"/>
            </a:endParaRPr>
          </a:p>
          <a:p>
            <a:r>
              <a:rPr lang="en-US" sz="3200" b="1" dirty="0">
                <a:latin typeface="Times"/>
                <a:cs typeface="Times"/>
              </a:rPr>
              <a:t>Integration with real systems</a:t>
            </a:r>
            <a:r>
              <a:rPr lang="en-US" sz="3200" dirty="0">
                <a:latin typeface="Times"/>
                <a:cs typeface="Times"/>
              </a:rPr>
              <a:t>: Directly connecting the </a:t>
            </a:r>
            <a:r>
              <a:rPr lang="en-US" sz="3200" b="1" dirty="0">
                <a:latin typeface="Times"/>
                <a:cs typeface="Times"/>
              </a:rPr>
              <a:t>Portfolio Stress Tester</a:t>
            </a:r>
            <a:r>
              <a:rPr lang="en-US" sz="3200" dirty="0">
                <a:latin typeface="Times"/>
                <a:cs typeface="Times"/>
              </a:rPr>
              <a:t> to live exchange feeds for real-time automated hedging suggestions.</a:t>
            </a:r>
          </a:p>
          <a:p>
            <a:endParaRPr lang="en-US" sz="3200" dirty="0">
              <a:latin typeface="Times"/>
              <a:cs typeface="Times"/>
            </a:endParaRPr>
          </a:p>
          <a:p>
            <a:r>
              <a:rPr lang="en-US" sz="3200" b="1" dirty="0">
                <a:latin typeface="Times"/>
                <a:cs typeface="Times"/>
              </a:rPr>
              <a:t>Business potential</a:t>
            </a:r>
            <a:r>
              <a:rPr lang="en-US" sz="3200" dirty="0">
                <a:latin typeface="Times"/>
                <a:cs typeface="Times"/>
              </a:rPr>
              <a:t>: Offering SENTINEL as a B2B "Responsible Trading" compliance layer for other financial institutions and brokerages.</a:t>
            </a:r>
          </a:p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672</Words>
  <Application>Microsoft Office PowerPoint</Application>
  <PresentationFormat>Custom</PresentationFormat>
  <Paragraphs>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ui-sans-serif</vt:lpstr>
      <vt:lpstr>Times</vt:lpstr>
      <vt:lpstr>Calibri</vt:lpstr>
      <vt:lpstr>Inter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Prachi Bhardwaj</dc:creator>
  <cp:lastModifiedBy>Nardev Singh</cp:lastModifiedBy>
  <cp:revision>4</cp:revision>
  <dcterms:created xsi:type="dcterms:W3CDTF">2006-08-16T00:00:00Z</dcterms:created>
  <dcterms:modified xsi:type="dcterms:W3CDTF">2026-04-13T10:15:43Z</dcterms:modified>
</cp:coreProperties>
</file>